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NIKE, INC.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Global Sport, Consumer &amp; Digital Growth</a:t>
            </a:r>
          </a:p>
          <a:p>
            <a:pPr>
              <a:spcBef>
                <a:spcPts val="1800"/>
              </a:spcBef>
              <a:defRPr sz="1500">
                <a:solidFill>
                  <a:srgbClr val="BEBEBE"/>
                </a:solidFill>
              </a:defRPr>
            </a:pPr>
            <a:r>
              <a:t>Investor Overview —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53949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BE"/>
                </a:solidFill>
              </a:defRPr>
            </a:pPr>
            <a:r>
              <a:t>Public-company diligence test | Prepared for controlled Zelda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Company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A global athletic footwear, apparel and equipment company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$52.8B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FY2026 Revenue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Fiscal year ended May 31,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2272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81,500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Employees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Global workforce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8744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Beaverton, Oregon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Headquarters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One Bowerman Drive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Delaware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Incorporated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U.S. corporation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NYSE: NKE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Ticker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Publicly traded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4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May 31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Fiscal Year End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Annual reporting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Brand strength paired with a wholesale-led marketplace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NIKE operates one of the world’s most recognized portfolios of athletic footwear, apparel and equipment brands.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Management is rebalancing marketplace execution while investing in sport, product innovation and brand demand creation.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FY2026 revenue reached $52.8 billion, supported by wholesale growth and stabilization across core geographies.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The company remains globally diversified, with North America as its largest profit contributor.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Converse remains part of the portfolio and provides an additional lifestyle-oriented consumer brand.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FY2026 Financial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Scale, channel mix and profitability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$52.8B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Total Revenue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2272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$45.2B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NIKE Brand Revenue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8744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$27.5B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Wholesale Revenue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$17.7B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NIKE Direct Revenue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46.1%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Gross Margin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4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$1.2B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Converse Revenue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Product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Footwear remains the economic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$29.5B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Footwear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NIKE Brand FY2026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2272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$13.4B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Apparel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NIKE Brand FY2026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8744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$2.2B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Equipment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NIKE Brand FY2026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+8%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Digital Growth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 NIKE Brand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+3%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Owned Stores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4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$1.2B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Converse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Operating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Global distribution with a scaled employee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NIKE is headquartered at One Bowerman Drive in Beaverton, Oregon.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The company employs approximately 81,500 people worldwide.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NIKE is incorporated in Delaware and operates through a global network of subsidiaries.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Its marketplace spans wholesale partners, NIKE-owned retail stores and digital commerce.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The company sells across North America, Europe/Middle East/Africa, Greater China, and Asia Pacific/Latin America.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Marketplace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Wholesale improvement offsets pressure in direct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FY2026 wholesale revenue increased 6% on a reported basis.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NIKE Direct revenue declined 6% on a reported basis.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NIKE Brand Digital revenue increased 8% during FY2026.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Converse revenue declined materially during the year.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North America remained a major source of NIKE Brand earnings.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Capital &amp; Corporate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Public-market scale with established reporting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0000320187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CIK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SEC registrant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2272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Delaware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State of Incorporation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Corporate domicile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8744" y="160020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May 31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Fiscal Year End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SEC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$3.85B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FY2026 EBIT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NIKE, Inc.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$16.1B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S&amp;A Expense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4" y="3337560"/>
            <a:ext cx="352044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18872"/>
          <a:lstStyle/>
          <a:p>
            <a:pPr algn="ctr">
              <a:defRPr sz="2400" b="1">
                <a:solidFill>
                  <a:srgbClr val="141414"/>
                </a:solidFill>
              </a:defRPr>
            </a:pPr>
            <a:r>
              <a:t>$4.75B</a:t>
            </a:r>
          </a:p>
          <a:p>
            <a:pPr>
              <a:defRPr sz="1200" b="1">
                <a:solidFill>
                  <a:srgbClr val="696969"/>
                </a:solidFill>
              </a:defRPr>
            </a:pPr>
            <a:r>
              <a:t>Demand Creation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t>FY2026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Key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Execution, channel mix and global consumer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Continued weakness in digital demand could pressure the pace of NIKE Direct recovery.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Tariffs, foreign exchange movements and sourcing costs can affect gross margin.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Greater China remains an important market where demand volatility can affect consolidated performance.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Competitive intensity in athletic footwear and apparel requires sustained innovation and marketing investment.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Portfolio performance at Converse remains a watch item following significant revenue declines.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Diligence Questions for Zelda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ptos"/>
              </a:defRPr>
            </a:pPr>
            <a:r>
              <a:t>Can the evidence layer separate supported facts from contradictions and unknowns?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Does the reported FY2026 revenue reconcile with authoritative filings?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Does the stated employee count match the latest available company disclosure?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Is the claimed state of incorporation consistent with SEC issuer metadata?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Are channel-growth statements supported by reported results?</a:t>
            </a:r>
          </a:p>
          <a:p>
            <a:pPr>
              <a:spcAft>
                <a:spcPts val="13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Does Zelda preserve correct facts while flagging only claims its evidence can actually contradict?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NIKE, Inc. — Zelda Intelligence Suite controlled test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